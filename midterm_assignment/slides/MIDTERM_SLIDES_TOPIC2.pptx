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HỌC VIỆN CÔNG NGHỆ BƯU CHÍNH VIỄN THÔNG - KHOA CNTT</a:t>
            </a:r>
          </a:p>
          <a:p>
            <a:pPr>
              <a:spcBef>
                <a:spcPts val="1500"/>
              </a:spcBef>
              <a:defRPr sz="3200" b="1">
                <a:solidFill>
                  <a:srgbClr val="F1F5F9"/>
                </a:solidFill>
              </a:defRPr>
            </a:pPr>
            <a:r>
              <a:t>PHÁT HIỆN &amp; XỬ LÝ ĐIỂM NGOẠI LAI</a:t>
            </a:r>
            <a:br/>
            <a:r>
              <a:t>(OUTLIER DETECTION &amp; HANDLING)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Thực nghiệm đối sánh trên 2,304 ván đấu Đấu Giải Chuyên Nghiệp LMHT 2026 (LCK, LPL, MSI, EWC)</a:t>
            </a:r>
          </a:p>
          <a:p>
            <a:pPr>
              <a:spcBef>
                <a:spcPts val="3000"/>
              </a:spcBef>
              <a:defRPr sz="1300" b="1">
                <a:solidFill>
                  <a:srgbClr val="FBBF24"/>
                </a:solidFill>
              </a:defRPr>
            </a:pPr>
            <a:r>
              <a:t>Giảng viên hướng dẫn: TS. Thái Tuyết Hải  |  Sinh viên thực hiện: [Họ và tên] - [MSSV]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MỤC TIÊU NGHIÊN CỨU &amp; CÂU HỎI THỐNG KÊ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1. Bản Chất Ngoại Lai</a:t>
            </a:r>
          </a:p>
          <a:p>
            <a:pPr>
              <a:spcBef>
                <a:spcPts val="1500"/>
              </a:spcBef>
              <a:defRPr sz="1400">
                <a:solidFill>
                  <a:srgbClr val="F1F5F9"/>
                </a:solidFill>
              </a:defRPr>
            </a:pPr>
            <a:r>
              <a:t>Thấu hiểu toán học của Outliers và phân biệt rạch ròi với Dữ liệu Sai hỏng (Erroneous Data). Tránh xóa nhầm tri thức.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2. Đối Sánh Thuật Toán</a:t>
            </a:r>
          </a:p>
          <a:p>
            <a:pPr>
              <a:spcBef>
                <a:spcPts val="1500"/>
              </a:spcBef>
              <a:defRPr sz="1400">
                <a:solidFill>
                  <a:srgbClr val="F1F5F9"/>
                </a:solidFill>
              </a:defRPr>
            </a:pPr>
            <a:r>
              <a:t>Kiểm chứng thực tế 3 phương pháp: IQR, Z-Score và Isolation Forest trên 2,304 trận đấu Pro Play LMHT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3. Cẩm Nang Xử Lý</a:t>
            </a:r>
          </a:p>
          <a:p>
            <a:pPr>
              <a:spcBef>
                <a:spcPts val="1500"/>
              </a:spcBef>
              <a:defRPr sz="1400">
                <a:solidFill>
                  <a:srgbClr val="F1F5F9"/>
                </a:solidFill>
              </a:defRPr>
            </a:pPr>
            <a:r>
              <a:t>Đo lường định lượng tác động lên Mean, Std Dev và Skewness. Đề xuất chiến lược Cắt ngọn (Winsorization) tối ưu.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PHÂN BIỆT: NGOẠI LAI THỰC SỰ vs DỮ LIỆU SAI HỎNG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⭐ ĐIỂM NGOẠI LAI THỰC SỰ (TRUE OUTLIERS)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• Bản chất: Giá trị cực trị nhưng HỢP LỆ và CÓ THẬT trong đời thực.</a:t>
            </a:r>
            <a:br/>
            <a:br/>
            <a:r>
              <a:t>• Nguyên nhân: Đột biến tự nhiên, sự kiện ngoại lệ, quy luật lăn cầu tuyết.</a:t>
            </a:r>
            <a:br/>
            <a:br/>
            <a:r>
              <a:t>• Ví dụ LMHT: Đội T1 dẫn trước +3,580 vàng lúc 10 phút nhờ ăn trọn trụ đầu và out trình.</a:t>
            </a:r>
            <a:br/>
            <a:br/>
            <a:r>
              <a:t>• Giá trị: Mang tính tri thức cao, phản ánh đỉnh cao chiến thuật.</a:t>
            </a:r>
            <a:br/>
            <a:br/>
            <a:r>
              <a:t>• Xử lý: Giữ lại, biến đổi hàm số hoặc dùng Winsorization.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⚠️ DỮ LIỆU SAI HỎNG (ERRONEOUS DATA)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• Bản chất: Giá trị PHI LÝ, SAI LỆCH do lỗi kỹ thuật và hệ thống.</a:t>
            </a:r>
            <a:br/>
            <a:br/>
            <a:r>
              <a:t>• Nguyên nhân: Lỗi cảm biến, nhập liệu sai, bug API, rớt mạng, mất dữ liệu.</a:t>
            </a:r>
            <a:br/>
            <a:br/>
            <a:r>
              <a:t>• Ví dụ LMHT: Ván đấu Remake 2 phút do disconnect nhưng hệ thống vẫn ghi nhận chỉ số 0.</a:t>
            </a:r>
            <a:br/>
            <a:br/>
            <a:r>
              <a:t>• Tác hại: Phá hủy tính toàn vẹn của mô hình phân tích.</a:t>
            </a:r>
            <a:br/>
            <a:br/>
            <a:r>
              <a:t>• Xử lý: BẮT BUỘC LOẠI BỎ TRIỆT ĐỂ ở khâu Data Cleaning ban đầu.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HAI TRƯỜNG PHÁI: PHI THAM SỐ (IQR) vs THAM SỐ (Z-SCORE)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📊 KHOẢNG TỨ PHÂN VỊ (IQR - TUKEY)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• Công thức: IQR = Q3 - Q1 | Ngưỡng: [Q1 - 1.5*IQR, Q3 + 1.5*IQR]</a:t>
            </a:r>
            <a:br/>
            <a:br/>
            <a:r>
              <a:t>• Bản chất: Dựa trên phân vị vị trí (Non-parametric).</a:t>
            </a:r>
            <a:br/>
            <a:br/>
            <a:r>
              <a:t>• Ưu điểm: Bền vững (Robust) hoàn toàn trước các giá trị cực trị. Không đòi hỏi phân phối chuẩn.</a:t>
            </a:r>
            <a:br/>
            <a:br/>
            <a:r>
              <a:t>• Nhược điểm: Hệ số 1.5 mang tính kinh nghiệm thực nghiệm.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📉 ĐIỂM TIÊU CHUẨN (Z-SCORE - 3 SIGMA)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• Công thức: Z = (X - Mean) / Std | Ngoại lai khi |Z| &gt; 3.0</a:t>
            </a:r>
            <a:br/>
            <a:br/>
            <a:r>
              <a:t>• Bản chất: Giả định phân phối chuẩn Gauss (Parametric).</a:t>
            </a:r>
            <a:br/>
            <a:br/>
            <a:r>
              <a:t>• LỖI CHE KHUẤT (MASKING EFFECT):</a:t>
            </a:r>
            <a:br/>
            <a:r>
              <a:t>  - Chính các ngoại lai cực lớn kéo lệch Mean và THỔI PHỒNG Std.</a:t>
            </a:r>
            <a:br/>
            <a:r>
              <a:t>  - Mẫu số Std quá lớn làm Z-Score bị co lại, khiến Z-Score trở nên 'quá trơ' và BỎ SÓT nhiều ngoại lai nghiêm trọng!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DỮ LIỆU THỰC NGHIỆM: 2,304 TRẬN ĐẤU LMHT PRO PLAY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TẬP DỮ LIỆU ĐỈNH CAO THỰC TẾ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Quy mô: 2,304 ván đấu Đội Xanh từ LCK, LPL, LCP, EWC, MSI 2026.</a:t>
            </a:r>
            <a:br/>
            <a:br/>
            <a:r>
              <a:t>• Biến trọng tâm: golddiffat10 (Chênh lệch vàng phút 10).</a:t>
            </a:r>
            <a:br/>
            <a:br/>
            <a:r>
              <a:t>• Thống kê mô tả:</a:t>
            </a:r>
            <a:br/>
            <a:r>
              <a:t>  - Mean: +98.37 vàng (Đội Xanh có ưu thế nhẹ)</a:t>
            </a:r>
            <a:br/>
            <a:r>
              <a:t>  - Median: +86.00 vàng</a:t>
            </a:r>
            <a:br/>
            <a:r>
              <a:t>  - Std Dev: 1,171.80 vàng</a:t>
            </a:r>
            <a:br/>
            <a:r>
              <a:t>  - Khoảng giá trị: [-3,606 đến +3,580] vàng</a:t>
            </a:r>
            <a:br/>
            <a:r>
              <a:t>  - Skewness: 0.0616 (gần đối xứng)</a:t>
            </a:r>
            <a:br/>
            <a:r>
              <a:t>  - Kurtosis: -0.0220 (gần phân phối chuẩn)</a:t>
            </a:r>
          </a:p>
        </p:txBody>
      </p:sp>
      <p:pic>
        <p:nvPicPr>
          <p:cNvPr id="6" name="Picture 5" descr="fig1_outlier_detection_iqr_z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5943600" cy="25472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KẾT QUẢ ĐỐI SÁNH: IQR vs Z-SCORE vs ISOLATION FOREST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Phương pháp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Ngưỡng xác định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Số ngoại lai gắn cờ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Tỷ lệ phát hiện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Khoảng tứ phân vị (IQR)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[-2,961.2 vàng, +3,136.8 vàng]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23 ván đấu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1.00%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Điểm số tiêu chuẩn (Z-Score)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[-3,417.0 vàng, +3,613.8 vàng]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2 ván đấu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0.09% (Quá bảo thủ)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Rừng cô lập (Isolation Forest)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Score &lt; 0 (Contam = 0.03)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70 ván đấu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1F5F9"/>
                          </a:solidFill>
                        </a:defRPr>
                      </a:pPr>
                      <a:r>
                        <a:t>3.04% (Đa chiều)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BBF24"/>
                </a:solidFill>
              </a:defRPr>
            </a:pPr>
            <a:r>
              <a:t>💡 PHÁT HIỆN KHOA HỌC THEN CHỐT</a:t>
            </a:r>
          </a:p>
          <a:p>
            <a:pPr>
              <a:spcBef>
                <a:spcPts val="600"/>
              </a:spcBef>
              <a:defRPr sz="1300">
                <a:solidFill>
                  <a:srgbClr val="F1F5F9"/>
                </a:solidFill>
              </a:defRPr>
            </a:pPr>
            <a:r>
              <a:t>• Z-Score bỏ sót tới 21 ván đấu lăn cầu tuyết cực lớn vì độ lệch chuẩn mẫu bị đội lên 1,171.80 vàng.</a:t>
            </a:r>
            <a:br/>
            <a:r>
              <a:t>• IQR hoàn toàn miễn nhiễm với biến thiên cực đoan, bao quát chính xác 1.00% các trận đấu có tính chất bất thường.</a:t>
            </a:r>
            <a:br/>
            <a:r>
              <a:t>• Cả 2 thuật toán chỉ đồng thuận trên đúng 2 ván đấu cực đoan nhất: -3,606 vàng và +3,580 vàng.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KHÔNG GIAN ĐA CHIỀU: VÀNG vs KINH NGHIỆM (FIG 3)</a:t>
            </a:r>
          </a:p>
        </p:txBody>
      </p:sp>
      <p:pic>
        <p:nvPicPr>
          <p:cNvPr id="5" name="Picture 4" descr="fig3_scatter_multivariate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6085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SỰ ĐỒNG THUẬN GIỮA CÁC THUẬT TOÁN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• Màu Đỏ: Cả IQR và Z-Score cùng nhận diện (2 trận đấu cực đại).</a:t>
            </a:r>
            <a:br/>
            <a:br/>
            <a:r>
              <a:t>• Màu Cam: 21 trận chỉ có IQR nhận diện nhưng Z-Score bỏ sót hoàn toàn.</a:t>
            </a:r>
            <a:br/>
            <a:br/>
            <a:r>
              <a:t>• Màu Xanh lá: Isolation Forest phát hiện thêm các trận lệch đồng thời cả Vàng và Kinh nghiệm ở vùng biên.</a:t>
            </a:r>
            <a:br/>
            <a:br/>
            <a:r>
              <a:t>• Kết luận: Kết hợp đa chiều giúp bao quát triệt để hiện tượng chiến thuật.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TÁC ĐỘNG CỦA CÁC CHIẾN LƯỢC XỬ LÝ LÊN MEAN VÀ STD DEV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Chiến lược xử lý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Cỡ mẫu 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Giữ lại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Mean (vàng)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Std Dev (vàng)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Δ Std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Biên độ [Min, Max]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Gốc (Retaining)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2,304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+98.37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1,171.80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[-3606, +3580]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Xóa bỏ IQR (Trimming)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2,281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99.00%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+97.43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1,130.64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-3.51%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[-2947, +3098]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Xóa bỏ 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2,302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99.91%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+101.58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1,167.24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-0.39%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[-3374, +3580]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Cắt ngọn (Winsorize 1%-99%)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2,304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+98.84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1,156.90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-1.27%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[-2702, +2921]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BBF24"/>
                </a:solidFill>
              </a:defRPr>
            </a:pPr>
            <a:r>
              <a:t>🎯 ĐÁNH GIÁ ĐỊNH LƯỢNG: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</a:defRPr>
            </a:pPr>
            <a:r>
              <a:t>1. Trimming theo IQR làm mất 23 ván đấu và giảm 3.51% phương sai mẫu.</a:t>
            </a:r>
            <a:br/>
            <a:r>
              <a:t>2. Winsorization (Cắt ngọn) vừa bảo vệ 100% cỡ mẫu N = 2,304, vừa ổn định hóa phương sai (-1.27%) mà không làm lệch Mean!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TRỰC QUAN HÓA TÁC ĐỘNG THỐNG KÊ (FIG 2 &amp; FIG 4)</a:t>
            </a:r>
          </a:p>
        </p:txBody>
      </p:sp>
      <p:pic>
        <p:nvPicPr>
          <p:cNvPr id="5" name="Picture 4" descr="fig4_statistical_impac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2024743"/>
          </a:xfrm>
          <a:prstGeom prst="rect">
            <a:avLst/>
          </a:prstGeom>
        </p:spPr>
      </p:pic>
      <p:pic>
        <p:nvPicPr>
          <p:cNvPr id="6" name="Picture 5" descr="fig2_distribution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63040"/>
            <a:ext cx="4846320" cy="134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BẢN ĐỒ CHIẾN LƯỢC XỬ LÝ NGOẠI LAI (RECOMMENDATIONS)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GIỮ NGUYÊN (RETAINING)</a:t>
            </a:r>
          </a:p>
          <a:p>
            <a:pPr>
              <a:spcBef>
                <a:spcPts val="300"/>
              </a:spcBef>
              <a:defRPr sz="1200">
                <a:solidFill>
                  <a:srgbClr val="F1F5F9"/>
                </a:solidFill>
              </a:defRPr>
            </a:pPr>
            <a:r>
              <a:t>Khi nghiên cứu sự kiện hiếm, đột biến chiến thuật hoặc phát hiện gian lận. Xóa bỏ sẽ làm mất tri thức cốt lõi.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2. LOẠI BỎ (TRIMMING)</a:t>
            </a:r>
          </a:p>
          <a:p>
            <a:pPr>
              <a:spcBef>
                <a:spcPts val="300"/>
              </a:spcBef>
              <a:defRPr sz="1200">
                <a:solidFill>
                  <a:srgbClr val="F1F5F9"/>
                </a:solidFill>
              </a:defRPr>
            </a:pPr>
            <a:r>
              <a:t>CHỈ DÙNG KHI là Dữ liệu Sai hỏng (Erroneous Data / Remake / Lỗi mạng). Tuyệt đối không xóa True Outliers.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3. CẮT NGỌN (WINSORIZING)</a:t>
            </a:r>
          </a:p>
          <a:p>
            <a:pPr>
              <a:spcBef>
                <a:spcPts val="300"/>
              </a:spcBef>
              <a:defRPr sz="1200">
                <a:solidFill>
                  <a:srgbClr val="F1F5F9"/>
                </a:solidFill>
              </a:defRPr>
            </a:pPr>
            <a:r>
              <a:t>LỰA CHỌN TỐI ƯU cho Machine Learning. Giữ nguyên 100% kích thước mẫu, tránh bùng nổ gradient và ổn định hóa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4. BIẾN ĐỔI (TRANSFORM)</a:t>
            </a:r>
          </a:p>
          <a:p>
            <a:pPr>
              <a:spcBef>
                <a:spcPts val="300"/>
              </a:spcBef>
              <a:defRPr sz="1200">
                <a:solidFill>
                  <a:srgbClr val="F1F5F9"/>
                </a:solidFill>
              </a:defRPr>
            </a:pPr>
            <a:r>
              <a:t>Áp dụng Log hoặc Box-Cox khi phân phối có độ lệch cực lớn mang tính nhân tính (Multiplicative).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NHẬP MÔN KHOA HỌC DỮ LIỆU - PTIT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TỔNG KẾT BÀI HỌC KINH NGHIỆM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3 BÀI HỌC VÀNG TRONG KHOA HỌC DỮ LIỆU</a:t>
            </a:r>
          </a:p>
          <a:p>
            <a:pPr>
              <a:spcBef>
                <a:spcPts val="2000"/>
              </a:spcBef>
              <a:defRPr sz="1500">
                <a:solidFill>
                  <a:srgbClr val="F1F5F9"/>
                </a:solidFill>
              </a:defRPr>
            </a:pPr>
            <a:r>
              <a:t>1. Không có thuật toán vạn năng: IQR bền vững hơn Z-Score trên dữ liệu có biến thiên lớn nhờ tính phi tham số.</a:t>
            </a:r>
            <a:br/>
            <a:br/>
            <a:r>
              <a:t>2. Đừng vội vàng xóa bỏ ngoại lai: Các trận đấu 'lăn cầu tuyết' phản ánh thế trận thật của thể thao điện tử, xóa bỏ là phá hủy tri thức thực tế.</a:t>
            </a:r>
            <a:br/>
            <a:br/>
            <a:r>
              <a:t>3. Kết hợp Toán học với Kiến thức Nghiệp vụ (Domain Knowledge): Quyết định xử lý ngoại lai phải luôn bắt nguồn từ ngữ cảnh thực tế của bài toán.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38BDF8"/>
                </a:solidFill>
              </a:defRPr>
            </a:pPr>
            <a:r>
              <a:t>XIN CHÂN THÀNH CẢM ƠN!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Cảm ơn TS. Thái Tuyết Hải và các bạn sinh viên đã theo dõi bài thuyết trình.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